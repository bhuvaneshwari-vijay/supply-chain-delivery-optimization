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eague Spartan" charset="1" panose="00000800000000000000"/>
      <p:regular r:id="rId12"/>
    </p:embeddedFont>
    <p:embeddedFont>
      <p:font typeface="Open Sauce" charset="1" panose="00000500000000000000"/>
      <p:regular r:id="rId13"/>
    </p:embeddedFont>
    <p:embeddedFont>
      <p:font typeface="Open Sauce Bold" charset="1" panose="00000800000000000000"/>
      <p:regular r:id="rId14"/>
    </p:embeddedFont>
    <p:embeddedFont>
      <p:font typeface="Poppins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622167"/>
            <a:ext cx="16230600" cy="0"/>
          </a:xfrm>
          <a:prstGeom prst="line">
            <a:avLst/>
          </a:prstGeom>
          <a:ln cap="flat" w="19050">
            <a:solidFill>
              <a:srgbClr val="1D1B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890498" y="7262822"/>
            <a:ext cx="6368802" cy="3732866"/>
            <a:chOff x="0" y="0"/>
            <a:chExt cx="1677380" cy="9831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77380" cy="983142"/>
            </a:xfrm>
            <a:custGeom>
              <a:avLst/>
              <a:gdLst/>
              <a:ahLst/>
              <a:cxnLst/>
              <a:rect r="r" b="b" t="t" l="l"/>
              <a:pathLst>
                <a:path h="983142" w="1677380">
                  <a:moveTo>
                    <a:pt x="18234" y="0"/>
                  </a:moveTo>
                  <a:lnTo>
                    <a:pt x="1659146" y="0"/>
                  </a:lnTo>
                  <a:cubicBezTo>
                    <a:pt x="1669216" y="0"/>
                    <a:pt x="1677380" y="8164"/>
                    <a:pt x="1677380" y="18234"/>
                  </a:cubicBezTo>
                  <a:lnTo>
                    <a:pt x="1677380" y="964908"/>
                  </a:lnTo>
                  <a:cubicBezTo>
                    <a:pt x="1677380" y="974978"/>
                    <a:pt x="1669216" y="983142"/>
                    <a:pt x="1659146" y="983142"/>
                  </a:cubicBezTo>
                  <a:lnTo>
                    <a:pt x="18234" y="983142"/>
                  </a:lnTo>
                  <a:cubicBezTo>
                    <a:pt x="8164" y="983142"/>
                    <a:pt x="0" y="974978"/>
                    <a:pt x="0" y="964908"/>
                  </a:cubicBezTo>
                  <a:lnTo>
                    <a:pt x="0" y="18234"/>
                  </a:lnTo>
                  <a:cubicBezTo>
                    <a:pt x="0" y="8164"/>
                    <a:pt x="8164" y="0"/>
                    <a:pt x="18234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677380" cy="935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90498" y="3537958"/>
            <a:ext cx="6368802" cy="5720342"/>
          </a:xfrm>
          <a:custGeom>
            <a:avLst/>
            <a:gdLst/>
            <a:ahLst/>
            <a:cxnLst/>
            <a:rect r="r" b="b" t="t" l="l"/>
            <a:pathLst>
              <a:path h="5720342" w="6368802">
                <a:moveTo>
                  <a:pt x="0" y="0"/>
                </a:moveTo>
                <a:lnTo>
                  <a:pt x="6368802" y="0"/>
                </a:lnTo>
                <a:lnTo>
                  <a:pt x="6368802" y="5720342"/>
                </a:lnTo>
                <a:lnTo>
                  <a:pt x="0" y="572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03485" y="8386955"/>
            <a:ext cx="798723" cy="466164"/>
          </a:xfrm>
          <a:custGeom>
            <a:avLst/>
            <a:gdLst/>
            <a:ahLst/>
            <a:cxnLst/>
            <a:rect r="r" b="b" t="t" l="l"/>
            <a:pathLst>
              <a:path h="466164" w="798723">
                <a:moveTo>
                  <a:pt x="0" y="0"/>
                </a:moveTo>
                <a:lnTo>
                  <a:pt x="798723" y="0"/>
                </a:lnTo>
                <a:lnTo>
                  <a:pt x="798723" y="466164"/>
                </a:lnTo>
                <a:lnTo>
                  <a:pt x="0" y="466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890498" y="3514280"/>
            <a:ext cx="1100591" cy="110059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292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104456" y="3728239"/>
            <a:ext cx="672675" cy="672675"/>
          </a:xfrm>
          <a:custGeom>
            <a:avLst/>
            <a:gdLst/>
            <a:ahLst/>
            <a:cxnLst/>
            <a:rect r="r" b="b" t="t" l="l"/>
            <a:pathLst>
              <a:path h="672675" w="672675">
                <a:moveTo>
                  <a:pt x="0" y="0"/>
                </a:moveTo>
                <a:lnTo>
                  <a:pt x="672675" y="0"/>
                </a:lnTo>
                <a:lnTo>
                  <a:pt x="672675" y="672674"/>
                </a:lnTo>
                <a:lnTo>
                  <a:pt x="0" y="672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1149" y="2336619"/>
            <a:ext cx="8802558" cy="361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8"/>
              </a:lnSpc>
            </a:pPr>
            <a:r>
              <a:rPr lang="en-US" sz="7287">
                <a:solidFill>
                  <a:srgbClr val="1D1B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SUPPLY CHAIN EFFICIENCY &amp; LEAD TIME OPTIMIZATION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1149" y="6226750"/>
            <a:ext cx="8092851" cy="103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  <a:spcBef>
                <a:spcPct val="0"/>
              </a:spcBef>
            </a:pPr>
            <a:r>
              <a:rPr lang="en-US" sz="2972" spc="-59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Identifying the Mid-Mile Bottleneck in NE India Logistics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81937"/>
            <a:ext cx="720057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36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Analyst :</a:t>
            </a:r>
            <a:r>
              <a:rPr lang="en-US" b="true" sz="1800" spc="-36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Bhuvaneshwari Vijay Raghavan | June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622167"/>
            <a:ext cx="16230600" cy="0"/>
          </a:xfrm>
          <a:prstGeom prst="line">
            <a:avLst/>
          </a:prstGeom>
          <a:ln cap="flat" w="19050">
            <a:solidFill>
              <a:srgbClr val="1D1B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613844"/>
            <a:ext cx="6952927" cy="6036764"/>
            <a:chOff x="0" y="0"/>
            <a:chExt cx="1831224" cy="1589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1224" cy="1589930"/>
            </a:xfrm>
            <a:custGeom>
              <a:avLst/>
              <a:gdLst/>
              <a:ahLst/>
              <a:cxnLst/>
              <a:rect r="r" b="b" t="t" l="l"/>
              <a:pathLst>
                <a:path h="1589930" w="1831224">
                  <a:moveTo>
                    <a:pt x="16702" y="0"/>
                  </a:moveTo>
                  <a:lnTo>
                    <a:pt x="1814522" y="0"/>
                  </a:lnTo>
                  <a:cubicBezTo>
                    <a:pt x="1823746" y="0"/>
                    <a:pt x="1831224" y="7478"/>
                    <a:pt x="1831224" y="16702"/>
                  </a:cubicBezTo>
                  <a:lnTo>
                    <a:pt x="1831224" y="1573227"/>
                  </a:lnTo>
                  <a:cubicBezTo>
                    <a:pt x="1831224" y="1577657"/>
                    <a:pt x="1829464" y="1581905"/>
                    <a:pt x="1826332" y="1585038"/>
                  </a:cubicBezTo>
                  <a:cubicBezTo>
                    <a:pt x="1823200" y="1588170"/>
                    <a:pt x="1818951" y="1589930"/>
                    <a:pt x="1814522" y="1589930"/>
                  </a:cubicBezTo>
                  <a:lnTo>
                    <a:pt x="16702" y="1589930"/>
                  </a:lnTo>
                  <a:cubicBezTo>
                    <a:pt x="12272" y="1589930"/>
                    <a:pt x="8024" y="1588170"/>
                    <a:pt x="4892" y="1585038"/>
                  </a:cubicBezTo>
                  <a:cubicBezTo>
                    <a:pt x="1760" y="1581905"/>
                    <a:pt x="0" y="1577657"/>
                    <a:pt x="0" y="1573227"/>
                  </a:cubicBezTo>
                  <a:lnTo>
                    <a:pt x="0" y="16702"/>
                  </a:lnTo>
                  <a:cubicBezTo>
                    <a:pt x="0" y="12272"/>
                    <a:pt x="1760" y="8024"/>
                    <a:pt x="4892" y="4892"/>
                  </a:cubicBezTo>
                  <a:cubicBezTo>
                    <a:pt x="8024" y="1760"/>
                    <a:pt x="12272" y="0"/>
                    <a:pt x="16702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831224" cy="1542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1843" y="2840175"/>
            <a:ext cx="6546641" cy="5584103"/>
            <a:chOff x="0" y="0"/>
            <a:chExt cx="1014246" cy="8651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4246" cy="865124"/>
            </a:xfrm>
            <a:custGeom>
              <a:avLst/>
              <a:gdLst/>
              <a:ahLst/>
              <a:cxnLst/>
              <a:rect r="r" b="b" t="t" l="l"/>
              <a:pathLst>
                <a:path h="865124" w="1014246">
                  <a:moveTo>
                    <a:pt x="17739" y="0"/>
                  </a:moveTo>
                  <a:lnTo>
                    <a:pt x="996507" y="0"/>
                  </a:lnTo>
                  <a:cubicBezTo>
                    <a:pt x="1001212" y="0"/>
                    <a:pt x="1005724" y="1869"/>
                    <a:pt x="1009051" y="5196"/>
                  </a:cubicBezTo>
                  <a:cubicBezTo>
                    <a:pt x="1012377" y="8522"/>
                    <a:pt x="1014246" y="13034"/>
                    <a:pt x="1014246" y="17739"/>
                  </a:cubicBezTo>
                  <a:lnTo>
                    <a:pt x="1014246" y="847385"/>
                  </a:lnTo>
                  <a:cubicBezTo>
                    <a:pt x="1014246" y="852090"/>
                    <a:pt x="1012377" y="856601"/>
                    <a:pt x="1009051" y="859928"/>
                  </a:cubicBezTo>
                  <a:cubicBezTo>
                    <a:pt x="1005724" y="863255"/>
                    <a:pt x="1001212" y="865124"/>
                    <a:pt x="996507" y="865124"/>
                  </a:cubicBezTo>
                  <a:lnTo>
                    <a:pt x="17739" y="865124"/>
                  </a:lnTo>
                  <a:cubicBezTo>
                    <a:pt x="13034" y="865124"/>
                    <a:pt x="8522" y="863255"/>
                    <a:pt x="5196" y="859928"/>
                  </a:cubicBezTo>
                  <a:cubicBezTo>
                    <a:pt x="1869" y="856601"/>
                    <a:pt x="0" y="852090"/>
                    <a:pt x="0" y="847385"/>
                  </a:cubicBezTo>
                  <a:lnTo>
                    <a:pt x="0" y="17739"/>
                  </a:lnTo>
                  <a:cubicBezTo>
                    <a:pt x="0" y="13034"/>
                    <a:pt x="1869" y="8522"/>
                    <a:pt x="5196" y="5196"/>
                  </a:cubicBezTo>
                  <a:cubicBezTo>
                    <a:pt x="8522" y="1869"/>
                    <a:pt x="13034" y="0"/>
                    <a:pt x="17739" y="0"/>
                  </a:cubicBezTo>
                  <a:close/>
                </a:path>
              </a:pathLst>
            </a:custGeom>
            <a:blipFill>
              <a:blip r:embed="rId2"/>
              <a:stretch>
                <a:fillRect l="-50101" t="0" r="-676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969895" y="2785294"/>
            <a:ext cx="778701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5"/>
              </a:lnSpc>
            </a:pPr>
            <a:r>
              <a:rPr lang="en-US" sz="7500">
                <a:solidFill>
                  <a:srgbClr val="1D1B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836060"/>
            <a:ext cx="7796765" cy="209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  <a:spcBef>
                <a:spcPct val="0"/>
              </a:spcBef>
            </a:pPr>
            <a:r>
              <a:rPr lang="en-US" sz="2972" spc="-59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Shipments from Indian warehouses to North-East states are consistently delayed - causing high Return-to-Origin (RTO) rates and customer dissatisfaction.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6204324"/>
            <a:ext cx="779676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39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NE India serves 8 states with challenging terrain and limited infrastructure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7172700"/>
            <a:ext cx="779676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39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Logistics providers publish SLA targets of 7–9 days for NE India vs 2 days for Metro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8141075"/>
            <a:ext cx="779676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39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The question: Is the delay at the Origin Warehouse, Mid-Mile Transit or Last Mile delivery?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9593583"/>
            <a:ext cx="182880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39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S</a:t>
            </a:r>
            <a:r>
              <a:rPr lang="en-US" b="true" sz="1999" spc="-39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ource: Synthetic data modeled on Delhivery published SLA benchmarks | Jan–May 2026 | 85 shipments across 20 zones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622167"/>
            <a:ext cx="16230600" cy="0"/>
          </a:xfrm>
          <a:prstGeom prst="line">
            <a:avLst/>
          </a:prstGeom>
          <a:ln cap="flat" w="19050">
            <a:solidFill>
              <a:srgbClr val="1D1B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593017"/>
            <a:ext cx="4335241" cy="58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sz="4479">
                <a:solidFill>
                  <a:srgbClr val="1D1B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FINDINGS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254021"/>
            <a:ext cx="11469537" cy="50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  <a:spcBef>
                <a:spcPct val="0"/>
              </a:spcBef>
            </a:pPr>
            <a:r>
              <a:rPr lang="en-US" sz="2972" spc="-59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Analysis based on 85 shipments across 20 zones | Jan–May 26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845469"/>
            <a:ext cx="2167621" cy="846288"/>
            <a:chOff x="0" y="0"/>
            <a:chExt cx="570896" cy="2228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0896" cy="222891"/>
            </a:xfrm>
            <a:custGeom>
              <a:avLst/>
              <a:gdLst/>
              <a:ahLst/>
              <a:cxnLst/>
              <a:rect r="r" b="b" t="t" l="l"/>
              <a:pathLst>
                <a:path h="222891" w="570896">
                  <a:moveTo>
                    <a:pt x="53574" y="0"/>
                  </a:moveTo>
                  <a:lnTo>
                    <a:pt x="517322" y="0"/>
                  </a:lnTo>
                  <a:cubicBezTo>
                    <a:pt x="546910" y="0"/>
                    <a:pt x="570896" y="23986"/>
                    <a:pt x="570896" y="53574"/>
                  </a:cubicBezTo>
                  <a:lnTo>
                    <a:pt x="570896" y="169316"/>
                  </a:lnTo>
                  <a:cubicBezTo>
                    <a:pt x="570896" y="183525"/>
                    <a:pt x="565252" y="197152"/>
                    <a:pt x="555204" y="207199"/>
                  </a:cubicBezTo>
                  <a:cubicBezTo>
                    <a:pt x="545157" y="217246"/>
                    <a:pt x="531530" y="222891"/>
                    <a:pt x="517322" y="222891"/>
                  </a:cubicBezTo>
                  <a:lnTo>
                    <a:pt x="53574" y="222891"/>
                  </a:lnTo>
                  <a:cubicBezTo>
                    <a:pt x="23986" y="222891"/>
                    <a:pt x="0" y="198905"/>
                    <a:pt x="0" y="169316"/>
                  </a:cubicBezTo>
                  <a:lnTo>
                    <a:pt x="0" y="53574"/>
                  </a:lnTo>
                  <a:cubicBezTo>
                    <a:pt x="0" y="39366"/>
                    <a:pt x="5644" y="25739"/>
                    <a:pt x="15692" y="15692"/>
                  </a:cubicBezTo>
                  <a:cubicBezTo>
                    <a:pt x="25739" y="5644"/>
                    <a:pt x="39366" y="0"/>
                    <a:pt x="53574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23825"/>
              <a:ext cx="570896" cy="99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  <a:r>
                <a:rPr lang="en-US" b="true" sz="3599" spc="-7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109 hrs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98572" y="3845469"/>
            <a:ext cx="5412460" cy="846288"/>
            <a:chOff x="0" y="0"/>
            <a:chExt cx="1425504" cy="2228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5504" cy="222891"/>
            </a:xfrm>
            <a:custGeom>
              <a:avLst/>
              <a:gdLst/>
              <a:ahLst/>
              <a:cxnLst/>
              <a:rect r="r" b="b" t="t" l="l"/>
              <a:pathLst>
                <a:path h="222891" w="1425504">
                  <a:moveTo>
                    <a:pt x="21456" y="0"/>
                  </a:moveTo>
                  <a:lnTo>
                    <a:pt x="1404048" y="0"/>
                  </a:lnTo>
                  <a:cubicBezTo>
                    <a:pt x="1409738" y="0"/>
                    <a:pt x="1415196" y="2261"/>
                    <a:pt x="1419220" y="6284"/>
                  </a:cubicBezTo>
                  <a:cubicBezTo>
                    <a:pt x="1423243" y="10308"/>
                    <a:pt x="1425504" y="15765"/>
                    <a:pt x="1425504" y="21456"/>
                  </a:cubicBezTo>
                  <a:lnTo>
                    <a:pt x="1425504" y="201435"/>
                  </a:lnTo>
                  <a:cubicBezTo>
                    <a:pt x="1425504" y="213285"/>
                    <a:pt x="1415898" y="222891"/>
                    <a:pt x="1404048" y="222891"/>
                  </a:cubicBezTo>
                  <a:lnTo>
                    <a:pt x="21456" y="222891"/>
                  </a:lnTo>
                  <a:cubicBezTo>
                    <a:pt x="9606" y="222891"/>
                    <a:pt x="0" y="213285"/>
                    <a:pt x="0" y="201435"/>
                  </a:cubicBezTo>
                  <a:lnTo>
                    <a:pt x="0" y="21456"/>
                  </a:lnTo>
                  <a:cubicBezTo>
                    <a:pt x="0" y="9606"/>
                    <a:pt x="9606" y="0"/>
                    <a:pt x="21456" y="0"/>
                  </a:cubicBezTo>
                  <a:close/>
                </a:path>
              </a:pathLst>
            </a:custGeom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425504" cy="137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3"/>
                </a:lnSpc>
              </a:pPr>
              <a:r>
                <a:rPr lang="en-US" b="true" sz="2399" spc="-47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Avg Mid-Mile Transit - NE India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98237" y="2497767"/>
            <a:ext cx="4761063" cy="6760533"/>
            <a:chOff x="0" y="0"/>
            <a:chExt cx="737613" cy="10473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7613" cy="1047383"/>
            </a:xfrm>
            <a:custGeom>
              <a:avLst/>
              <a:gdLst/>
              <a:ahLst/>
              <a:cxnLst/>
              <a:rect r="r" b="b" t="t" l="l"/>
              <a:pathLst>
                <a:path h="1047383" w="737613">
                  <a:moveTo>
                    <a:pt x="24391" y="0"/>
                  </a:moveTo>
                  <a:lnTo>
                    <a:pt x="713222" y="0"/>
                  </a:lnTo>
                  <a:cubicBezTo>
                    <a:pt x="719691" y="0"/>
                    <a:pt x="725895" y="2570"/>
                    <a:pt x="730469" y="7144"/>
                  </a:cubicBezTo>
                  <a:cubicBezTo>
                    <a:pt x="735044" y="11718"/>
                    <a:pt x="737613" y="17922"/>
                    <a:pt x="737613" y="24391"/>
                  </a:cubicBezTo>
                  <a:lnTo>
                    <a:pt x="737613" y="1022992"/>
                  </a:lnTo>
                  <a:cubicBezTo>
                    <a:pt x="737613" y="1036463"/>
                    <a:pt x="726693" y="1047383"/>
                    <a:pt x="713222" y="1047383"/>
                  </a:cubicBezTo>
                  <a:lnTo>
                    <a:pt x="24391" y="1047383"/>
                  </a:lnTo>
                  <a:cubicBezTo>
                    <a:pt x="17922" y="1047383"/>
                    <a:pt x="11718" y="1044814"/>
                    <a:pt x="7144" y="1040239"/>
                  </a:cubicBezTo>
                  <a:cubicBezTo>
                    <a:pt x="2570" y="1035665"/>
                    <a:pt x="0" y="1029461"/>
                    <a:pt x="0" y="1022992"/>
                  </a:cubicBezTo>
                  <a:lnTo>
                    <a:pt x="0" y="24391"/>
                  </a:lnTo>
                  <a:cubicBezTo>
                    <a:pt x="0" y="17922"/>
                    <a:pt x="2570" y="11718"/>
                    <a:pt x="7144" y="7144"/>
                  </a:cubicBezTo>
                  <a:cubicBezTo>
                    <a:pt x="11718" y="2570"/>
                    <a:pt x="17922" y="0"/>
                    <a:pt x="24391" y="0"/>
                  </a:cubicBezTo>
                  <a:close/>
                </a:path>
              </a:pathLst>
            </a:custGeom>
            <a:blipFill>
              <a:blip r:embed="rId2"/>
              <a:stretch>
                <a:fillRect l="-58187" t="0" r="-58187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5110311"/>
            <a:ext cx="2167621" cy="846288"/>
            <a:chOff x="0" y="0"/>
            <a:chExt cx="570896" cy="2228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0896" cy="222891"/>
            </a:xfrm>
            <a:custGeom>
              <a:avLst/>
              <a:gdLst/>
              <a:ahLst/>
              <a:cxnLst/>
              <a:rect r="r" b="b" t="t" l="l"/>
              <a:pathLst>
                <a:path h="222891" w="570896">
                  <a:moveTo>
                    <a:pt x="53574" y="0"/>
                  </a:moveTo>
                  <a:lnTo>
                    <a:pt x="517322" y="0"/>
                  </a:lnTo>
                  <a:cubicBezTo>
                    <a:pt x="546910" y="0"/>
                    <a:pt x="570896" y="23986"/>
                    <a:pt x="570896" y="53574"/>
                  </a:cubicBezTo>
                  <a:lnTo>
                    <a:pt x="570896" y="169316"/>
                  </a:lnTo>
                  <a:cubicBezTo>
                    <a:pt x="570896" y="183525"/>
                    <a:pt x="565252" y="197152"/>
                    <a:pt x="555204" y="207199"/>
                  </a:cubicBezTo>
                  <a:cubicBezTo>
                    <a:pt x="545157" y="217246"/>
                    <a:pt x="531530" y="222891"/>
                    <a:pt x="517322" y="222891"/>
                  </a:cubicBezTo>
                  <a:lnTo>
                    <a:pt x="53574" y="222891"/>
                  </a:lnTo>
                  <a:cubicBezTo>
                    <a:pt x="23986" y="222891"/>
                    <a:pt x="0" y="198905"/>
                    <a:pt x="0" y="169316"/>
                  </a:cubicBezTo>
                  <a:lnTo>
                    <a:pt x="0" y="53574"/>
                  </a:lnTo>
                  <a:cubicBezTo>
                    <a:pt x="0" y="39366"/>
                    <a:pt x="5644" y="25739"/>
                    <a:pt x="15692" y="15692"/>
                  </a:cubicBezTo>
                  <a:cubicBezTo>
                    <a:pt x="25739" y="5644"/>
                    <a:pt x="39366" y="0"/>
                    <a:pt x="53574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23825"/>
              <a:ext cx="570896" cy="99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  <a:r>
                <a:rPr lang="en-US" b="true" sz="3599" spc="-7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6.8x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375152"/>
            <a:ext cx="2167621" cy="846288"/>
            <a:chOff x="0" y="0"/>
            <a:chExt cx="570896" cy="222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0896" cy="222891"/>
            </a:xfrm>
            <a:custGeom>
              <a:avLst/>
              <a:gdLst/>
              <a:ahLst/>
              <a:cxnLst/>
              <a:rect r="r" b="b" t="t" l="l"/>
              <a:pathLst>
                <a:path h="222891" w="570896">
                  <a:moveTo>
                    <a:pt x="53574" y="0"/>
                  </a:moveTo>
                  <a:lnTo>
                    <a:pt x="517322" y="0"/>
                  </a:lnTo>
                  <a:cubicBezTo>
                    <a:pt x="546910" y="0"/>
                    <a:pt x="570896" y="23986"/>
                    <a:pt x="570896" y="53574"/>
                  </a:cubicBezTo>
                  <a:lnTo>
                    <a:pt x="570896" y="169316"/>
                  </a:lnTo>
                  <a:cubicBezTo>
                    <a:pt x="570896" y="183525"/>
                    <a:pt x="565252" y="197152"/>
                    <a:pt x="555204" y="207199"/>
                  </a:cubicBezTo>
                  <a:cubicBezTo>
                    <a:pt x="545157" y="217246"/>
                    <a:pt x="531530" y="222891"/>
                    <a:pt x="517322" y="222891"/>
                  </a:cubicBezTo>
                  <a:lnTo>
                    <a:pt x="53574" y="222891"/>
                  </a:lnTo>
                  <a:cubicBezTo>
                    <a:pt x="23986" y="222891"/>
                    <a:pt x="0" y="198905"/>
                    <a:pt x="0" y="169316"/>
                  </a:cubicBezTo>
                  <a:lnTo>
                    <a:pt x="0" y="53574"/>
                  </a:lnTo>
                  <a:cubicBezTo>
                    <a:pt x="0" y="39366"/>
                    <a:pt x="5644" y="25739"/>
                    <a:pt x="15692" y="15692"/>
                  </a:cubicBezTo>
                  <a:cubicBezTo>
                    <a:pt x="25739" y="5644"/>
                    <a:pt x="39366" y="0"/>
                    <a:pt x="53574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23825"/>
              <a:ext cx="570896" cy="99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  <a:r>
                <a:rPr lang="en-US" b="true" sz="3599" spc="-7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28%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98572" y="5143500"/>
            <a:ext cx="5412460" cy="846288"/>
            <a:chOff x="0" y="0"/>
            <a:chExt cx="1425504" cy="2228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5504" cy="222891"/>
            </a:xfrm>
            <a:custGeom>
              <a:avLst/>
              <a:gdLst/>
              <a:ahLst/>
              <a:cxnLst/>
              <a:rect r="r" b="b" t="t" l="l"/>
              <a:pathLst>
                <a:path h="222891" w="1425504">
                  <a:moveTo>
                    <a:pt x="21456" y="0"/>
                  </a:moveTo>
                  <a:lnTo>
                    <a:pt x="1404048" y="0"/>
                  </a:lnTo>
                  <a:cubicBezTo>
                    <a:pt x="1409738" y="0"/>
                    <a:pt x="1415196" y="2261"/>
                    <a:pt x="1419220" y="6284"/>
                  </a:cubicBezTo>
                  <a:cubicBezTo>
                    <a:pt x="1423243" y="10308"/>
                    <a:pt x="1425504" y="15765"/>
                    <a:pt x="1425504" y="21456"/>
                  </a:cubicBezTo>
                  <a:lnTo>
                    <a:pt x="1425504" y="201435"/>
                  </a:lnTo>
                  <a:cubicBezTo>
                    <a:pt x="1425504" y="213285"/>
                    <a:pt x="1415898" y="222891"/>
                    <a:pt x="1404048" y="222891"/>
                  </a:cubicBezTo>
                  <a:lnTo>
                    <a:pt x="21456" y="222891"/>
                  </a:lnTo>
                  <a:cubicBezTo>
                    <a:pt x="9606" y="222891"/>
                    <a:pt x="0" y="213285"/>
                    <a:pt x="0" y="201435"/>
                  </a:cubicBezTo>
                  <a:lnTo>
                    <a:pt x="0" y="21456"/>
                  </a:lnTo>
                  <a:cubicBezTo>
                    <a:pt x="0" y="9606"/>
                    <a:pt x="9606" y="0"/>
                    <a:pt x="21456" y="0"/>
                  </a:cubicBezTo>
                  <a:close/>
                </a:path>
              </a:pathLst>
            </a:custGeom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1425504" cy="137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3"/>
                </a:lnSpc>
              </a:pPr>
              <a:r>
                <a:rPr lang="en-US" b="true" sz="2399" spc="-47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Slower than Metro (16 hrs)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498572" y="6375152"/>
            <a:ext cx="5412460" cy="846288"/>
            <a:chOff x="0" y="0"/>
            <a:chExt cx="1425504" cy="2228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25504" cy="222891"/>
            </a:xfrm>
            <a:custGeom>
              <a:avLst/>
              <a:gdLst/>
              <a:ahLst/>
              <a:cxnLst/>
              <a:rect r="r" b="b" t="t" l="l"/>
              <a:pathLst>
                <a:path h="222891" w="1425504">
                  <a:moveTo>
                    <a:pt x="21456" y="0"/>
                  </a:moveTo>
                  <a:lnTo>
                    <a:pt x="1404048" y="0"/>
                  </a:lnTo>
                  <a:cubicBezTo>
                    <a:pt x="1409738" y="0"/>
                    <a:pt x="1415196" y="2261"/>
                    <a:pt x="1419220" y="6284"/>
                  </a:cubicBezTo>
                  <a:cubicBezTo>
                    <a:pt x="1423243" y="10308"/>
                    <a:pt x="1425504" y="15765"/>
                    <a:pt x="1425504" y="21456"/>
                  </a:cubicBezTo>
                  <a:lnTo>
                    <a:pt x="1425504" y="201435"/>
                  </a:lnTo>
                  <a:cubicBezTo>
                    <a:pt x="1425504" y="213285"/>
                    <a:pt x="1415898" y="222891"/>
                    <a:pt x="1404048" y="222891"/>
                  </a:cubicBezTo>
                  <a:lnTo>
                    <a:pt x="21456" y="222891"/>
                  </a:lnTo>
                  <a:cubicBezTo>
                    <a:pt x="9606" y="222891"/>
                    <a:pt x="0" y="213285"/>
                    <a:pt x="0" y="201435"/>
                  </a:cubicBezTo>
                  <a:lnTo>
                    <a:pt x="0" y="21456"/>
                  </a:lnTo>
                  <a:cubicBezTo>
                    <a:pt x="0" y="9606"/>
                    <a:pt x="9606" y="0"/>
                    <a:pt x="21456" y="0"/>
                  </a:cubicBezTo>
                  <a:close/>
                </a:path>
              </a:pathLst>
            </a:custGeom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85725"/>
              <a:ext cx="1425504" cy="137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3"/>
                </a:lnSpc>
              </a:pPr>
              <a:r>
                <a:rPr lang="en-US" b="true" sz="2399" spc="-47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RTO Rate - NE India vs 0% Metro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622167"/>
            <a:ext cx="16230600" cy="0"/>
          </a:xfrm>
          <a:prstGeom prst="line">
            <a:avLst/>
          </a:prstGeom>
          <a:ln cap="flat" w="19050">
            <a:solidFill>
              <a:srgbClr val="1D1B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96164" y="9258300"/>
            <a:ext cx="10028216" cy="534809"/>
            <a:chOff x="0" y="0"/>
            <a:chExt cx="2641176" cy="140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41176" cy="140855"/>
            </a:xfrm>
            <a:custGeom>
              <a:avLst/>
              <a:gdLst/>
              <a:ahLst/>
              <a:cxnLst/>
              <a:rect r="r" b="b" t="t" l="l"/>
              <a:pathLst>
                <a:path h="140855" w="2641176">
                  <a:moveTo>
                    <a:pt x="11580" y="0"/>
                  </a:moveTo>
                  <a:lnTo>
                    <a:pt x="2629596" y="0"/>
                  </a:lnTo>
                  <a:cubicBezTo>
                    <a:pt x="2635992" y="0"/>
                    <a:pt x="2641176" y="5185"/>
                    <a:pt x="2641176" y="11580"/>
                  </a:cubicBezTo>
                  <a:lnTo>
                    <a:pt x="2641176" y="129275"/>
                  </a:lnTo>
                  <a:cubicBezTo>
                    <a:pt x="2641176" y="135670"/>
                    <a:pt x="2635992" y="140855"/>
                    <a:pt x="2629596" y="140855"/>
                  </a:cubicBezTo>
                  <a:lnTo>
                    <a:pt x="11580" y="140855"/>
                  </a:lnTo>
                  <a:cubicBezTo>
                    <a:pt x="5185" y="140855"/>
                    <a:pt x="0" y="135670"/>
                    <a:pt x="0" y="129275"/>
                  </a:cubicBezTo>
                  <a:lnTo>
                    <a:pt x="0" y="11580"/>
                  </a:lnTo>
                  <a:cubicBezTo>
                    <a:pt x="0" y="5185"/>
                    <a:pt x="5185" y="0"/>
                    <a:pt x="11580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2641176" cy="5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2"/>
                </a:lnSpc>
              </a:pPr>
              <a:r>
                <a:rPr lang="en-US" b="true" sz="2299" spc="-45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Worst zones: Aizawl &amp; Imphal - 60% RTO Rate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49962" y="3514893"/>
            <a:ext cx="5867183" cy="1417251"/>
            <a:chOff x="0" y="0"/>
            <a:chExt cx="1545266" cy="373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5266" cy="373268"/>
            </a:xfrm>
            <a:custGeom>
              <a:avLst/>
              <a:gdLst/>
              <a:ahLst/>
              <a:cxnLst/>
              <a:rect r="r" b="b" t="t" l="l"/>
              <a:pathLst>
                <a:path h="373268" w="1545266">
                  <a:moveTo>
                    <a:pt x="19793" y="0"/>
                  </a:moveTo>
                  <a:lnTo>
                    <a:pt x="1525473" y="0"/>
                  </a:lnTo>
                  <a:cubicBezTo>
                    <a:pt x="1536405" y="0"/>
                    <a:pt x="1545266" y="8862"/>
                    <a:pt x="1545266" y="19793"/>
                  </a:cubicBezTo>
                  <a:lnTo>
                    <a:pt x="1545266" y="353475"/>
                  </a:lnTo>
                  <a:cubicBezTo>
                    <a:pt x="1545266" y="364406"/>
                    <a:pt x="1536405" y="373268"/>
                    <a:pt x="1525473" y="373268"/>
                  </a:cubicBezTo>
                  <a:lnTo>
                    <a:pt x="19793" y="373268"/>
                  </a:lnTo>
                  <a:cubicBezTo>
                    <a:pt x="14544" y="373268"/>
                    <a:pt x="9509" y="371183"/>
                    <a:pt x="5797" y="367471"/>
                  </a:cubicBezTo>
                  <a:cubicBezTo>
                    <a:pt x="2085" y="363759"/>
                    <a:pt x="0" y="358724"/>
                    <a:pt x="0" y="353475"/>
                  </a:cubicBezTo>
                  <a:lnTo>
                    <a:pt x="0" y="19793"/>
                  </a:lnTo>
                  <a:cubicBezTo>
                    <a:pt x="0" y="8862"/>
                    <a:pt x="8862" y="0"/>
                    <a:pt x="19793" y="0"/>
                  </a:cubicBezTo>
                  <a:close/>
                </a:path>
              </a:pathLst>
            </a:custGeom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545266" cy="306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4"/>
                </a:lnSpc>
              </a:pPr>
              <a:r>
                <a:rPr lang="en-US" b="true" sz="2499" spc="-4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Stage 1 - Warehousing Processing  : 12 hrs (NE) vs 4.5 hrs (Metro)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49962" y="7179950"/>
            <a:ext cx="5867183" cy="1580055"/>
            <a:chOff x="0" y="0"/>
            <a:chExt cx="1545266" cy="4161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45266" cy="416146"/>
            </a:xfrm>
            <a:custGeom>
              <a:avLst/>
              <a:gdLst/>
              <a:ahLst/>
              <a:cxnLst/>
              <a:rect r="r" b="b" t="t" l="l"/>
              <a:pathLst>
                <a:path h="416146" w="1545266">
                  <a:moveTo>
                    <a:pt x="19793" y="0"/>
                  </a:moveTo>
                  <a:lnTo>
                    <a:pt x="1525473" y="0"/>
                  </a:lnTo>
                  <a:cubicBezTo>
                    <a:pt x="1536405" y="0"/>
                    <a:pt x="1545266" y="8862"/>
                    <a:pt x="1545266" y="19793"/>
                  </a:cubicBezTo>
                  <a:lnTo>
                    <a:pt x="1545266" y="396353"/>
                  </a:lnTo>
                  <a:cubicBezTo>
                    <a:pt x="1545266" y="407285"/>
                    <a:pt x="1536405" y="416146"/>
                    <a:pt x="1525473" y="416146"/>
                  </a:cubicBezTo>
                  <a:lnTo>
                    <a:pt x="19793" y="416146"/>
                  </a:lnTo>
                  <a:cubicBezTo>
                    <a:pt x="14544" y="416146"/>
                    <a:pt x="9509" y="414061"/>
                    <a:pt x="5797" y="410349"/>
                  </a:cubicBezTo>
                  <a:cubicBezTo>
                    <a:pt x="2085" y="406637"/>
                    <a:pt x="0" y="401603"/>
                    <a:pt x="0" y="396353"/>
                  </a:cubicBezTo>
                  <a:lnTo>
                    <a:pt x="0" y="19793"/>
                  </a:lnTo>
                  <a:cubicBezTo>
                    <a:pt x="0" y="8862"/>
                    <a:pt x="8862" y="0"/>
                    <a:pt x="19793" y="0"/>
                  </a:cubicBezTo>
                  <a:close/>
                </a:path>
              </a:pathLst>
            </a:custGeom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1545266" cy="349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4"/>
                </a:lnSpc>
              </a:pPr>
              <a:r>
                <a:rPr lang="en-US" b="true" sz="2499" spc="-4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Stage 3 - Last Mile : 51 hrs (NE) vs 8 hrs (Metro)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49962" y="5266020"/>
            <a:ext cx="5867183" cy="1580055"/>
            <a:chOff x="0" y="0"/>
            <a:chExt cx="1545266" cy="4161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45266" cy="416146"/>
            </a:xfrm>
            <a:custGeom>
              <a:avLst/>
              <a:gdLst/>
              <a:ahLst/>
              <a:cxnLst/>
              <a:rect r="r" b="b" t="t" l="l"/>
              <a:pathLst>
                <a:path h="416146" w="1545266">
                  <a:moveTo>
                    <a:pt x="19793" y="0"/>
                  </a:moveTo>
                  <a:lnTo>
                    <a:pt x="1525473" y="0"/>
                  </a:lnTo>
                  <a:cubicBezTo>
                    <a:pt x="1536405" y="0"/>
                    <a:pt x="1545266" y="8862"/>
                    <a:pt x="1545266" y="19793"/>
                  </a:cubicBezTo>
                  <a:lnTo>
                    <a:pt x="1545266" y="396353"/>
                  </a:lnTo>
                  <a:cubicBezTo>
                    <a:pt x="1545266" y="407285"/>
                    <a:pt x="1536405" y="416146"/>
                    <a:pt x="1525473" y="416146"/>
                  </a:cubicBezTo>
                  <a:lnTo>
                    <a:pt x="19793" y="416146"/>
                  </a:lnTo>
                  <a:cubicBezTo>
                    <a:pt x="14544" y="416146"/>
                    <a:pt x="9509" y="414061"/>
                    <a:pt x="5797" y="410349"/>
                  </a:cubicBezTo>
                  <a:cubicBezTo>
                    <a:pt x="2085" y="406637"/>
                    <a:pt x="0" y="401603"/>
                    <a:pt x="0" y="396353"/>
                  </a:cubicBezTo>
                  <a:lnTo>
                    <a:pt x="0" y="19793"/>
                  </a:lnTo>
                  <a:cubicBezTo>
                    <a:pt x="0" y="8862"/>
                    <a:pt x="8862" y="0"/>
                    <a:pt x="19793" y="0"/>
                  </a:cubicBezTo>
                  <a:close/>
                </a:path>
              </a:pathLst>
            </a:custGeom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1545266" cy="349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4"/>
                </a:lnSpc>
              </a:pPr>
              <a:r>
                <a:rPr lang="en-US" b="true" sz="2499" spc="-4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Stage 2 - Mid-Mile Transit : 109 hrs (NE) vs 16 hrs (Metro) ← BOTTLENECK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96164" y="3161148"/>
            <a:ext cx="10028216" cy="5598857"/>
          </a:xfrm>
          <a:custGeom>
            <a:avLst/>
            <a:gdLst/>
            <a:ahLst/>
            <a:cxnLst/>
            <a:rect r="r" b="b" t="t" l="l"/>
            <a:pathLst>
              <a:path h="5598857" w="10028216">
                <a:moveTo>
                  <a:pt x="0" y="0"/>
                </a:moveTo>
                <a:lnTo>
                  <a:pt x="10028216" y="0"/>
                </a:lnTo>
                <a:lnTo>
                  <a:pt x="10028216" y="5598857"/>
                </a:lnTo>
                <a:lnTo>
                  <a:pt x="0" y="5598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96164" y="2157355"/>
            <a:ext cx="13672431" cy="70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</a:pPr>
            <a:r>
              <a:rPr lang="en-US" sz="5388">
                <a:solidFill>
                  <a:srgbClr val="1D1B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BOTTLENECK: MID-MILE TRANSIT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622167"/>
            <a:ext cx="16230600" cy="0"/>
          </a:xfrm>
          <a:prstGeom prst="line">
            <a:avLst/>
          </a:prstGeom>
          <a:ln cap="flat" w="19050">
            <a:solidFill>
              <a:srgbClr val="1D1B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3107060"/>
            <a:ext cx="4960545" cy="1118420"/>
            <a:chOff x="0" y="0"/>
            <a:chExt cx="1306481" cy="2945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6481" cy="294563"/>
            </a:xfrm>
            <a:custGeom>
              <a:avLst/>
              <a:gdLst/>
              <a:ahLst/>
              <a:cxnLst/>
              <a:rect r="r" b="b" t="t" l="l"/>
              <a:pathLst>
                <a:path h="294563" w="1306481">
                  <a:moveTo>
                    <a:pt x="23410" y="0"/>
                  </a:moveTo>
                  <a:lnTo>
                    <a:pt x="1283070" y="0"/>
                  </a:lnTo>
                  <a:cubicBezTo>
                    <a:pt x="1296000" y="0"/>
                    <a:pt x="1306481" y="10481"/>
                    <a:pt x="1306481" y="23410"/>
                  </a:cubicBezTo>
                  <a:lnTo>
                    <a:pt x="1306481" y="271153"/>
                  </a:lnTo>
                  <a:cubicBezTo>
                    <a:pt x="1306481" y="284082"/>
                    <a:pt x="1296000" y="294563"/>
                    <a:pt x="1283070" y="294563"/>
                  </a:cubicBezTo>
                  <a:lnTo>
                    <a:pt x="23410" y="294563"/>
                  </a:lnTo>
                  <a:cubicBezTo>
                    <a:pt x="10481" y="294563"/>
                    <a:pt x="0" y="284082"/>
                    <a:pt x="0" y="271153"/>
                  </a:cubicBezTo>
                  <a:lnTo>
                    <a:pt x="0" y="23410"/>
                  </a:lnTo>
                  <a:cubicBezTo>
                    <a:pt x="0" y="10481"/>
                    <a:pt x="10481" y="0"/>
                    <a:pt x="23410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306481" cy="227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3"/>
                </a:lnSpc>
              </a:pPr>
              <a:r>
                <a:rPr lang="en-US" b="true" sz="2399" spc="-47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🔴 </a:t>
              </a:r>
              <a:r>
                <a:rPr lang="en-US" b="true" sz="2399" spc="-4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Priority 1 - Fix Mid-Mile Infrastructure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9215" y="2174526"/>
            <a:ext cx="8094785" cy="72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5624">
                <a:solidFill>
                  <a:srgbClr val="1D1B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9215" y="9395330"/>
            <a:ext cx="14771413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Implementing these changes could reduce NE India RTO rate from 28% to under 10%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9215" y="4644580"/>
            <a:ext cx="4960545" cy="1118420"/>
            <a:chOff x="0" y="0"/>
            <a:chExt cx="1306481" cy="2945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6481" cy="294563"/>
            </a:xfrm>
            <a:custGeom>
              <a:avLst/>
              <a:gdLst/>
              <a:ahLst/>
              <a:cxnLst/>
              <a:rect r="r" b="b" t="t" l="l"/>
              <a:pathLst>
                <a:path h="294563" w="1306481">
                  <a:moveTo>
                    <a:pt x="23410" y="0"/>
                  </a:moveTo>
                  <a:lnTo>
                    <a:pt x="1283070" y="0"/>
                  </a:lnTo>
                  <a:cubicBezTo>
                    <a:pt x="1296000" y="0"/>
                    <a:pt x="1306481" y="10481"/>
                    <a:pt x="1306481" y="23410"/>
                  </a:cubicBezTo>
                  <a:lnTo>
                    <a:pt x="1306481" y="271153"/>
                  </a:lnTo>
                  <a:cubicBezTo>
                    <a:pt x="1306481" y="284082"/>
                    <a:pt x="1296000" y="294563"/>
                    <a:pt x="1283070" y="294563"/>
                  </a:cubicBezTo>
                  <a:lnTo>
                    <a:pt x="23410" y="294563"/>
                  </a:lnTo>
                  <a:cubicBezTo>
                    <a:pt x="10481" y="294563"/>
                    <a:pt x="0" y="284082"/>
                    <a:pt x="0" y="271153"/>
                  </a:cubicBezTo>
                  <a:lnTo>
                    <a:pt x="0" y="23410"/>
                  </a:lnTo>
                  <a:cubicBezTo>
                    <a:pt x="0" y="10481"/>
                    <a:pt x="10481" y="0"/>
                    <a:pt x="23410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1306481" cy="227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3"/>
                </a:lnSpc>
              </a:pPr>
              <a:r>
                <a:rPr lang="en-US" b="true" sz="2399" spc="-4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📦 Priority 2 - Address Aizawl &amp; Imphal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6182100"/>
            <a:ext cx="4960545" cy="1118420"/>
            <a:chOff x="0" y="0"/>
            <a:chExt cx="1306481" cy="2945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6481" cy="294563"/>
            </a:xfrm>
            <a:custGeom>
              <a:avLst/>
              <a:gdLst/>
              <a:ahLst/>
              <a:cxnLst/>
              <a:rect r="r" b="b" t="t" l="l"/>
              <a:pathLst>
                <a:path h="294563" w="1306481">
                  <a:moveTo>
                    <a:pt x="23410" y="0"/>
                  </a:moveTo>
                  <a:lnTo>
                    <a:pt x="1283070" y="0"/>
                  </a:lnTo>
                  <a:cubicBezTo>
                    <a:pt x="1296000" y="0"/>
                    <a:pt x="1306481" y="10481"/>
                    <a:pt x="1306481" y="23410"/>
                  </a:cubicBezTo>
                  <a:lnTo>
                    <a:pt x="1306481" y="271153"/>
                  </a:lnTo>
                  <a:cubicBezTo>
                    <a:pt x="1306481" y="284082"/>
                    <a:pt x="1296000" y="294563"/>
                    <a:pt x="1283070" y="294563"/>
                  </a:cubicBezTo>
                  <a:lnTo>
                    <a:pt x="23410" y="294563"/>
                  </a:lnTo>
                  <a:cubicBezTo>
                    <a:pt x="10481" y="294563"/>
                    <a:pt x="0" y="284082"/>
                    <a:pt x="0" y="271153"/>
                  </a:cubicBezTo>
                  <a:lnTo>
                    <a:pt x="0" y="23410"/>
                  </a:lnTo>
                  <a:cubicBezTo>
                    <a:pt x="0" y="10481"/>
                    <a:pt x="10481" y="0"/>
                    <a:pt x="23410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1306481" cy="227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3"/>
                </a:lnSpc>
              </a:pPr>
              <a:r>
                <a:rPr lang="en-US" b="true" sz="2399" spc="-4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📊 Priority 3 - Real-Time SLA Monitoring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9215" y="7719620"/>
            <a:ext cx="4960545" cy="1118420"/>
            <a:chOff x="0" y="0"/>
            <a:chExt cx="1306481" cy="2945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06481" cy="294563"/>
            </a:xfrm>
            <a:custGeom>
              <a:avLst/>
              <a:gdLst/>
              <a:ahLst/>
              <a:cxnLst/>
              <a:rect r="r" b="b" t="t" l="l"/>
              <a:pathLst>
                <a:path h="294563" w="1306481">
                  <a:moveTo>
                    <a:pt x="23410" y="0"/>
                  </a:moveTo>
                  <a:lnTo>
                    <a:pt x="1283070" y="0"/>
                  </a:lnTo>
                  <a:cubicBezTo>
                    <a:pt x="1296000" y="0"/>
                    <a:pt x="1306481" y="10481"/>
                    <a:pt x="1306481" y="23410"/>
                  </a:cubicBezTo>
                  <a:lnTo>
                    <a:pt x="1306481" y="271153"/>
                  </a:lnTo>
                  <a:cubicBezTo>
                    <a:pt x="1306481" y="284082"/>
                    <a:pt x="1296000" y="294563"/>
                    <a:pt x="1283070" y="294563"/>
                  </a:cubicBezTo>
                  <a:lnTo>
                    <a:pt x="23410" y="294563"/>
                  </a:lnTo>
                  <a:cubicBezTo>
                    <a:pt x="10481" y="294563"/>
                    <a:pt x="0" y="284082"/>
                    <a:pt x="0" y="271153"/>
                  </a:cubicBezTo>
                  <a:lnTo>
                    <a:pt x="0" y="23410"/>
                  </a:lnTo>
                  <a:cubicBezTo>
                    <a:pt x="0" y="10481"/>
                    <a:pt x="10481" y="0"/>
                    <a:pt x="23410" y="0"/>
                  </a:cubicBezTo>
                  <a:close/>
                </a:path>
              </a:pathLst>
            </a:custGeom>
            <a:solidFill>
              <a:srgbClr val="F82929"/>
            </a:solidFill>
            <a:ln w="19050" cap="sq">
              <a:solidFill>
                <a:srgbClr val="1D1B1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66675"/>
              <a:ext cx="1306481" cy="227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3"/>
                </a:lnSpc>
              </a:pPr>
              <a:r>
                <a:rPr lang="en-US" b="true" sz="2399" spc="-4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💰 Priority 4 - RTO Cost Recovery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269923" y="3230025"/>
            <a:ext cx="976729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 spc="-47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 in dedicated NE India transit hubs at Guwahati &amp; Siliguri to reduce 109-hr avg to under 48 hrs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74723" y="4767545"/>
            <a:ext cx="976729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 spc="-47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60% RTO zones need hyperlocal delivery partners - national courier SLAs are not viable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74723" y="6305065"/>
            <a:ext cx="976729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 spc="-47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Implement zone-wise dashboards to flag Mid-Mile delays before they become RTOs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74723" y="7842585"/>
            <a:ext cx="976729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 spc="-47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28% NE India RTO rate represents significant reverse logistics cost - negotiate RTO insurance with courier partners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622167"/>
            <a:ext cx="16230600" cy="0"/>
          </a:xfrm>
          <a:prstGeom prst="line">
            <a:avLst/>
          </a:prstGeom>
          <a:ln cap="flat" w="19050">
            <a:solidFill>
              <a:srgbClr val="1D1B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3233515"/>
            <a:ext cx="6368802" cy="100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94"/>
              </a:lnSpc>
            </a:pPr>
            <a:r>
              <a:rPr lang="en-US" sz="7829">
                <a:solidFill>
                  <a:srgbClr val="1D1B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4011" y="4707255"/>
            <a:ext cx="6368802" cy="82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-47" b="true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Bhuvaneshwari Vijay Raghavan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BI &amp; Data Analytics | Gen AI Enabled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337934"/>
            <a:ext cx="7947751" cy="166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47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🔗 </a:t>
            </a:r>
            <a:r>
              <a:rPr lang="en-US" b="true" sz="2399" spc="-47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LinkedIn</a:t>
            </a:r>
            <a:r>
              <a:rPr lang="en-US" sz="2399" spc="-47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 : linkedin.com/in/bhuvaneshwari-vijay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47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💻 </a:t>
            </a:r>
            <a:r>
              <a:rPr lang="en-US" b="true" sz="2399" spc="-47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GitHub</a:t>
            </a:r>
            <a:r>
              <a:rPr lang="en-US" sz="2399" spc="-47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 : github.com/bhuvaneshwari-vijay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47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🌐 </a:t>
            </a:r>
            <a:r>
              <a:rPr lang="en-US" b="true" sz="2399" spc="-47">
                <a:solidFill>
                  <a:srgbClr val="1D1B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Portfolio</a:t>
            </a:r>
            <a:r>
              <a:rPr lang="en-US" sz="2399" spc="-47">
                <a:solidFill>
                  <a:srgbClr val="1D1B1A"/>
                </a:solidFill>
                <a:latin typeface="Open Sauce"/>
                <a:ea typeface="Open Sauce"/>
                <a:cs typeface="Open Sauce"/>
                <a:sym typeface="Open Sauce"/>
              </a:rPr>
              <a:t> : bhuvaneshwari-vijay-portfolio.tiiny.site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DAHNorxAqhs</dc:identifier>
  <dcterms:modified xsi:type="dcterms:W3CDTF">2011-08-01T06:04:30Z</dcterms:modified>
  <cp:revision>1</cp:revision>
  <dc:title>Supply Chain Efficiency &amp; Lead Time Optimization</dc:title>
</cp:coreProperties>
</file>